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4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51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[0:00-0:15] Open strong, do not read the slide. 'We are AshX. We stop coal-ash dams from failing by watching them continuously and acting automatically when they start to go wrong.'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[0:15-0:50] Walk the chain, do not read every box. 'Ash is stored wet. Rain loads the dam. That raises internal pressure — which is what actually breaks the wall. Nobody sees it because inspection is weekly. Then it breaches, and the contamination lasts decades.' Land on: the cause is INTERNAL PRESSURE, and nobody is watching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[0:50-1:15] Hit the numbers fast. The key beat: Eskom ALREADY took 1,600 MW off a strained grid because an ash dam might collapse, and a South African dam already failed and killed someone in 2022. This is live, and it is in our province.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[1:15-1:45] This slide must be crystal clear. Say the box almost verbatim, then the three words: SENSES, DECIDES, ACTS. Emphasise 'rate of rise' — that is the early warning, and it is what makes us smarter than a float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[1:45-2:10] Trace the chain with your hand. Finish on the grey bar — it sets up the next slide, which is our biggest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[2:10-2:30] Your strongest technical point — slow down. Judges love edge autonomy. If demoing live, this is where you pull the network and show the gate still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[2:30-2:50] Do not read the table. Say: 'Every layer of the required framework is covered — edge, transport, cloud and 3D.' Keep the Three.js line ready for a technical judge 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[3:05-3:35] Judges want to know WHY these people. Give the reason, not the segment. Tier 1 has already proven they act on this risk. Tier 3 is the clever one — insurers pay for reduced risk, so someone other than the polluter helps fund the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[3:55-4:15] Answer the three adjectives head on. Punchline is the bottom line: being cheap and simple is not a weakness of the prototype — it is the reason it can be deployed across thousands of unmonitored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[4:15-4:45] Slow right down — this decides whether judges remember you. Key sentence: this is not an environmental nice-to-have, it is public safety AND an industrial skills pipeline for a province whose coal economy is ending. Deliver the closing line looking at the judges, not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[4:45-5:00] End on the ask, not a thank-you. Say it, then stop talking and take questions. Silence after the ask reads as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-1371600"/>
            <a:ext cx="3840480" cy="3840480"/>
          </a:xfrm>
          <a:prstGeom prst="ellipse">
            <a:avLst/>
          </a:prstGeom>
          <a:solidFill>
            <a:srgbClr val="24394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8366760" y="3566160"/>
            <a:ext cx="1828800" cy="1828800"/>
          </a:xfrm>
          <a:prstGeom prst="ellipse">
            <a:avLst/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13232" y="2606040"/>
            <a:ext cx="502920" cy="50292"/>
          </a:xfrm>
          <a:prstGeom prst="rect">
            <a:avLst/>
          </a:prstGeom>
          <a:solidFill>
            <a:srgbClr val="E29A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Ash-Dam Safety Node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54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Cyber-physical telemetry and a live 3D digital twin for coal-ash dams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 ·  Power Station Ash Dam &amp; Industrial Safety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C8FB94-D1E6-FD86-9726-13750D866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819" y="436299"/>
            <a:ext cx="3307081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4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 dams fail from the inside out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262432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603504" y="1362456"/>
            <a:ext cx="365760" cy="365760"/>
          </a:xfrm>
          <a:prstGeom prst="ellipse">
            <a:avLst/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603504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1335024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piles up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828800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 stored wet; dams grow taller and heavier every year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07008"/>
            <a:ext cx="262432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3346704" y="1362456"/>
            <a:ext cx="365760" cy="365760"/>
          </a:xfrm>
          <a:prstGeom prst="ellipse">
            <a:avLst/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 txBox="1"/>
          <p:nvPr/>
        </p:nvSpPr>
        <p:spPr>
          <a:xfrm>
            <a:off x="3346704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76472" y="1362456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rainfall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1828800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storms load the dam with more water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1207008"/>
            <a:ext cx="262432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6089904" y="1362456"/>
            <a:ext cx="365760" cy="365760"/>
          </a:xfrm>
          <a:prstGeom prst="ellipse">
            <a:avLst/>
          </a:prstGeom>
          <a:solidFill>
            <a:srgbClr val="E29A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6089904" y="136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1362456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spikes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099048" y="1828800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 raises pore pressure and destabilises the wall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15184"/>
            <a:ext cx="262432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603504" y="2770632"/>
            <a:ext cx="365760" cy="365760"/>
          </a:xfrm>
          <a:prstGeom prst="ellipse">
            <a:avLst/>
          </a:prstGeom>
          <a:solidFill>
            <a:srgbClr val="E29A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 txBox="1"/>
          <p:nvPr/>
        </p:nvSpPr>
        <p:spPr>
          <a:xfrm>
            <a:off x="603504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33272" y="2770632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blind spot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" y="3236976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checks are weekly : days pass between readings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615184"/>
            <a:ext cx="262432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346704" y="2770632"/>
            <a:ext cx="365760" cy="365760"/>
          </a:xfrm>
          <a:prstGeom prst="ellipse">
            <a:avLst/>
          </a:prstGeom>
          <a:solidFill>
            <a:srgbClr val="C4452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 txBox="1"/>
          <p:nvPr/>
        </p:nvSpPr>
        <p:spPr>
          <a:xfrm>
            <a:off x="3346704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776472" y="2770632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 breaches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355848" y="3236976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can run from trigger to collapse in hours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0" y="2615184"/>
            <a:ext cx="2624328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6089904" y="2770632"/>
            <a:ext cx="365760" cy="365760"/>
          </a:xfrm>
          <a:prstGeom prst="ellipse">
            <a:avLst/>
          </a:prstGeom>
          <a:solidFill>
            <a:srgbClr val="C4452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 txBox="1"/>
          <p:nvPr/>
        </p:nvSpPr>
        <p:spPr>
          <a:xfrm>
            <a:off x="6089904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519672" y="2770632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contamination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099048" y="3236976"/>
            <a:ext cx="2313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Arsenic, lead and mercury into water and soil for decades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hypothetical. It is Mpumalanga.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56277" y="1303020"/>
            <a:ext cx="1975104" cy="1691640"/>
          </a:xfrm>
          <a:prstGeom prst="roundRect">
            <a:avLst>
              <a:gd name="adj" fmla="val 3784"/>
            </a:avLst>
          </a:prstGeom>
          <a:solidFill>
            <a:srgbClr val="24394B"/>
          </a:solidFill>
          <a:ln w="9525">
            <a:solidFill>
              <a:srgbClr val="31485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793899" y="1581912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A0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031643" y="214426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3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tailings dam failures per year, globally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75888" y="1325880"/>
            <a:ext cx="1975104" cy="1691640"/>
          </a:xfrm>
          <a:prstGeom prst="roundRect">
            <a:avLst>
              <a:gd name="adj" fmla="val 3784"/>
            </a:avLst>
          </a:prstGeom>
          <a:solidFill>
            <a:srgbClr val="24394B"/>
          </a:solidFill>
          <a:ln w="9525">
            <a:solidFill>
              <a:srgbClr val="31485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3675888" y="152689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2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Mt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813048" y="220296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3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coal ash a year from Eskom — only 7–10% reused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74997" y="1325880"/>
            <a:ext cx="1975104" cy="1691640"/>
          </a:xfrm>
          <a:prstGeom prst="roundRect">
            <a:avLst>
              <a:gd name="adj" fmla="val 3784"/>
            </a:avLst>
          </a:prstGeom>
          <a:solidFill>
            <a:srgbClr val="24394B"/>
          </a:solidFill>
          <a:ln w="9525">
            <a:solidFill>
              <a:srgbClr val="31485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6374997" y="1514541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29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550363" y="219456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3D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Eskom shut Camden (1,600 MW) over collapse risk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8229600" cy="841248"/>
          </a:xfrm>
          <a:prstGeom prst="roundRect">
            <a:avLst>
              <a:gd name="adj" fmla="val 6522"/>
            </a:avLst>
          </a:prstGeom>
          <a:solidFill>
            <a:srgbClr val="1D3140"/>
          </a:solidFill>
          <a:ln w="12700">
            <a:solidFill>
              <a:srgbClr val="E29A1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 txBox="1"/>
          <p:nvPr/>
        </p:nvSpPr>
        <p:spPr>
          <a:xfrm>
            <a:off x="713232" y="3310128"/>
            <a:ext cx="77175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Jagersfontein, September 2022 — a South African tailings dam failed, releasing a mudflow that destroyed homes and killed. Different commodity, identical failure mechanism.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Science (2019) · Metals (2022) · Moneyweb · Global Energy Monitor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6329" y="-141732"/>
            <a:ext cx="8229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E4EFF1"/>
          </a:solidFill>
          <a:ln w="12700">
            <a:solidFill>
              <a:srgbClr val="1380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 txBox="1"/>
          <p:nvPr/>
        </p:nvSpPr>
        <p:spPr>
          <a:xfrm>
            <a:off x="713232" y="932688"/>
            <a:ext cx="7717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IoT node that senses the water driving internal pressure, detects a dangerous rate of rise in real time, and autonomously opens a bypass gate and starts a relief pump — while streaming live data to a 3D digital twin.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640080" y="2121408"/>
            <a:ext cx="1078992" cy="310896"/>
          </a:xfrm>
          <a:prstGeom prst="roundRect">
            <a:avLst>
              <a:gd name="adj" fmla="val 14706"/>
            </a:avLst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358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level readings , filtered on-device to kill false alarms.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9202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3429000" y="2121408"/>
            <a:ext cx="1078992" cy="310896"/>
          </a:xfrm>
          <a:prstGeom prst="roundRect">
            <a:avLst>
              <a:gd name="adj" fmla="val 14706"/>
            </a:avLst>
          </a:prstGeom>
          <a:solidFill>
            <a:srgbClr val="E29A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 txBox="1"/>
          <p:nvPr/>
        </p:nvSpPr>
        <p:spPr>
          <a:xfrm>
            <a:off x="3429000" y="212140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On-device, in milliseconds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0358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triggers: absolute level, and rate of rise, so a rainfall surge trips the alarm early.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5176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6217920" y="2121408"/>
            <a:ext cx="1078992" cy="310896"/>
          </a:xfrm>
          <a:prstGeom prst="roundRect">
            <a:avLst>
              <a:gd name="adj" fmla="val 14706"/>
            </a:avLst>
          </a:prstGeom>
          <a:solidFill>
            <a:srgbClr val="C4452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 txBox="1"/>
          <p:nvPr/>
        </p:nvSpPr>
        <p:spPr>
          <a:xfrm>
            <a:off x="6217920" y="212140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Physically, with no human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0358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opens, pump drains the dam, siren and warning light fire on site.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24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happen on the device — in the seconds that decide whether the dam holds.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7"/>
            <a:ext cx="8229600" cy="685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kern="0" spc="200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243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603504" y="1234440"/>
            <a:ext cx="347472" cy="347472"/>
          </a:xfrm>
          <a:prstGeom prst="ellipse">
            <a:avLst/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603504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2344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80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1664208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reads the dam level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243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346704" y="1234440"/>
            <a:ext cx="347472" cy="347472"/>
          </a:xfrm>
          <a:prstGeom prst="ellipse">
            <a:avLst/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3346704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12344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80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664208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 removes electrical noise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26243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6089904" y="1234440"/>
            <a:ext cx="347472" cy="347472"/>
          </a:xfrm>
          <a:prstGeom prst="ellipse">
            <a:avLst/>
          </a:prstGeom>
          <a:solidFill>
            <a:srgbClr val="E29A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 txBox="1"/>
          <p:nvPr/>
        </p:nvSpPr>
        <p:spPr>
          <a:xfrm>
            <a:off x="6089904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123444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80" dirty="0">
                <a:solidFill>
                  <a:srgbClr val="E2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099048" y="1664208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checks level and rate of rise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542032"/>
            <a:ext cx="26243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603504" y="2679192"/>
            <a:ext cx="347472" cy="347472"/>
          </a:xfrm>
          <a:prstGeom prst="ellipse">
            <a:avLst/>
          </a:prstGeom>
          <a:solidFill>
            <a:srgbClr val="C4452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603504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67919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80" dirty="0">
                <a:solidFill>
                  <a:srgbClr val="C44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2648" y="310896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opens, pump runs, siren sounds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542032"/>
            <a:ext cx="26243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3346704" y="2679192"/>
            <a:ext cx="347472" cy="347472"/>
          </a:xfrm>
          <a:prstGeom prst="ellipse">
            <a:avLst/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 txBox="1"/>
          <p:nvPr/>
        </p:nvSpPr>
        <p:spPr>
          <a:xfrm>
            <a:off x="3346704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767328" y="267919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80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355848" y="310896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publishes live telemetry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0" y="2542032"/>
            <a:ext cx="262432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6089904" y="2679192"/>
            <a:ext cx="347472" cy="347472"/>
          </a:xfrm>
          <a:prstGeom prst="ellipse">
            <a:avLst/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 txBox="1"/>
          <p:nvPr/>
        </p:nvSpPr>
        <p:spPr>
          <a:xfrm>
            <a:off x="6089904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10528" y="2679192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80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099048" y="310896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digital twin updates in the browser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950208"/>
            <a:ext cx="8229600" cy="603504"/>
          </a:xfrm>
          <a:prstGeom prst="roundRect">
            <a:avLst>
              <a:gd name="adj" fmla="val 9091"/>
            </a:avLst>
          </a:prstGeom>
          <a:solidFill>
            <a:srgbClr val="E7EDEF"/>
          </a:solidFill>
          <a:ln/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DIFFERENTIATOR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the network. It still saves the dam.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Dams sit in remote places, and storms take connectivity down exactly when risk is highest. So we never put the cloud in the safety loop.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41648" cy="2487168"/>
          </a:xfrm>
          <a:prstGeom prst="roundRect">
            <a:avLst>
              <a:gd name="adj" fmla="val 2574"/>
            </a:avLst>
          </a:prstGeom>
          <a:solidFill>
            <a:srgbClr val="2B2220"/>
          </a:solidFill>
          <a:ln w="15875">
            <a:solidFill>
              <a:srgbClr val="C445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713232" y="155448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4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Cloud-dependent systems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066544"/>
            <a:ext cx="35295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stops when the link drops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a human to read a screen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measured in minutes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exactly when it matters most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45152" y="1371600"/>
            <a:ext cx="4041648" cy="2487168"/>
          </a:xfrm>
          <a:prstGeom prst="roundRect">
            <a:avLst>
              <a:gd name="adj" fmla="val 2574"/>
            </a:avLst>
          </a:prstGeom>
          <a:solidFill>
            <a:srgbClr val="16323A"/>
          </a:solidFill>
          <a:ln w="15875">
            <a:solidFill>
              <a:srgbClr val="1BA0A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 txBox="1"/>
          <p:nvPr/>
        </p:nvSpPr>
        <p:spPr>
          <a:xfrm>
            <a:off x="4901184" y="155448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AshX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01184" y="2066544"/>
            <a:ext cx="35295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opens without connectivity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drains the dam automatically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 milliseconds, on-device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resumes when the link returns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4212B"/>
                </a:solidFill>
                <a:latin typeface="Cambria" pitchFamily="34" charset="0"/>
                <a:ea typeface="Cambria" pitchFamily="34" charset="-122"/>
              </a:rPr>
              <a:t>Tech-Stack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640080" y="1225296"/>
            <a:ext cx="173736" cy="173736"/>
          </a:xfrm>
          <a:prstGeom prst="ellipse">
            <a:avLst/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932688" y="1024128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NodeMCU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35808" y="1024128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498848" y="1024128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with native Wi-Fi — runs filtering and decisions locally, cheap enough to deploy densely.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822960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173736" cy="173736"/>
          </a:xfrm>
          <a:prstGeom prst="ellipse">
            <a:avLst/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 txBox="1"/>
          <p:nvPr/>
        </p:nvSpPr>
        <p:spPr>
          <a:xfrm>
            <a:off x="932688" y="1673352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over WebSockets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35808" y="1673352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1673352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Publish/subscribe with a few bytes of overhead — built for constrained devices on poor links.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822960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640080" y="2523744"/>
            <a:ext cx="173736" cy="173736"/>
          </a:xfrm>
          <a:prstGeom prst="ellipse">
            <a:avLst/>
          </a:prstGeom>
          <a:solidFill>
            <a:srgbClr val="E29A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 txBox="1"/>
          <p:nvPr/>
        </p:nvSpPr>
        <p:spPr>
          <a:xfrm>
            <a:off x="932688" y="2322576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35808" y="2322576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analytics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2322576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alert logs and trend analysis with no backend server to build.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640080" y="3172968"/>
            <a:ext cx="173736" cy="173736"/>
          </a:xfrm>
          <a:prstGeom prst="ellipse">
            <a:avLst/>
          </a:prstGeom>
          <a:solidFill>
            <a:srgbClr val="E29A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932688" y="2971800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(WebGL)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035808" y="2971800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digital twin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498848" y="2971800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Navigable 3D in the browser, loading in tens of KB, live data binding in the same script.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21024"/>
            <a:ext cx="8229600" cy="576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640080" y="3822192"/>
            <a:ext cx="173736" cy="173736"/>
          </a:xfrm>
          <a:prstGeom prst="ellipse">
            <a:avLst/>
          </a:prstGeom>
          <a:solidFill>
            <a:srgbClr val="6F818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 txBox="1"/>
          <p:nvPr/>
        </p:nvSpPr>
        <p:spPr>
          <a:xfrm>
            <a:off x="932688" y="3621024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C++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035808" y="3621024"/>
            <a:ext cx="1371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498848" y="3621024"/>
            <a:ext cx="4069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hardware timing and mature ESP32 library support.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31596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4EFF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 txBox="1"/>
          <p:nvPr/>
        </p:nvSpPr>
        <p:spPr>
          <a:xfrm>
            <a:off x="685800" y="4315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43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over Unity: WebGL is the browser API, Three.js is the standard library on top of it — WebGL without hand-written shaders or Unity's multi-megabyte download.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B1859A-80C4-547D-386A-E61192FAC4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3" r="2" b="2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41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kern="0" spc="200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975104" cy="2542032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621792" y="12070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621792" y="12070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453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power utilities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0756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Eskom, Mpumalanga stations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2316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already taken 1,600 MW offline over this exact risk. The problem is acknowledged and budgeted.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9464" y="1024128"/>
            <a:ext cx="1975104" cy="2542032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2734056" y="12070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 txBox="1"/>
          <p:nvPr/>
        </p:nvSpPr>
        <p:spPr>
          <a:xfrm>
            <a:off x="2734056" y="12070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734056" y="15453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houses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34056" y="20756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platinum, coal tailings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734056" y="242316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failure mechanism, ~20,000 facilities globally, and real post-Jagersfontein pressure.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1728" y="1024128"/>
            <a:ext cx="1975104" cy="2542032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4846320" y="12070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29A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 txBox="1"/>
          <p:nvPr/>
        </p:nvSpPr>
        <p:spPr>
          <a:xfrm>
            <a:off x="4846320" y="12070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5453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&amp; underwriters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0756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2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risk pricing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42316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already price tailings risk. A monitored dam is a measurably different risk profile.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93992" y="1024128"/>
            <a:ext cx="1975104" cy="2542032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6958584" y="12070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29A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 txBox="1"/>
          <p:nvPr/>
        </p:nvSpPr>
        <p:spPr>
          <a:xfrm>
            <a:off x="6958584" y="12070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15453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wastewater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58584" y="20756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2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Sludge and overflow control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958584" y="2423160"/>
            <a:ext cx="1645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same overflow problem — a large adjacent market with no new engineering.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4212B"/>
                </a:solidFill>
                <a:latin typeface="Cambria" pitchFamily="34" charset="0"/>
                <a:ea typeface="Cambria" pitchFamily="34" charset="-122"/>
              </a:rPr>
              <a:t>Practicality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97180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658368" y="1252728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 txBox="1"/>
          <p:nvPr/>
        </p:nvSpPr>
        <p:spPr>
          <a:xfrm>
            <a:off x="658368" y="12527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28216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or green — readable at a glance, no training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3D twin makes a dam legible to non-engineers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Siren and warning light need no screen at all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in hours, not weeks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297180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447288" y="1252728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E29A1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 txBox="1"/>
          <p:nvPr/>
        </p:nvSpPr>
        <p:spPr>
          <a:xfrm>
            <a:off x="3447288" y="12527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1728216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parts — deploy dozens, not one or two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firmware covers ash dams, tailings and sludge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carries many nodes on a single broker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scales with no new hardware on site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297180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635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9AA8B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6236208" y="1252728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C4452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6236208" y="12527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728216"/>
            <a:ext cx="22494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components, no specialist rig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installation contractor needed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existing geotechnical instruments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1B2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monitoring on sites that have none at all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F81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18 hours from parts anyone can buy — which is exactly why it can be deployed at scale.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1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Why it matters?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4041648" cy="2852928"/>
          </a:xfrm>
          <a:prstGeom prst="roundRect">
            <a:avLst>
              <a:gd name="adj" fmla="val 2244"/>
            </a:avLst>
          </a:prstGeom>
          <a:solidFill>
            <a:srgbClr val="16323A"/>
          </a:solidFill>
          <a:ln w="15240">
            <a:solidFill>
              <a:srgbClr val="1BA0A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 txBox="1"/>
          <p:nvPr/>
        </p:nvSpPr>
        <p:spPr>
          <a:xfrm>
            <a:off x="731520" y="1078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community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81328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live downstream — a breach threatens homes and lives, not just habitat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contamination lasts decades; arsenic and lead do not wash away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buys the minutes that decide whether people get out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DC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security where mining and farming share the same rivers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45152" y="932688"/>
            <a:ext cx="4041648" cy="2852928"/>
          </a:xfrm>
          <a:prstGeom prst="roundRect">
            <a:avLst>
              <a:gd name="adj" fmla="val 2244"/>
            </a:avLst>
          </a:prstGeom>
          <a:solidFill>
            <a:srgbClr val="33291A"/>
          </a:solidFill>
          <a:ln w="15240">
            <a:solidFill>
              <a:srgbClr val="E29A1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4919472" y="10789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29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Mpumalanga needs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919472" y="1481328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D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coal economy facing a just transition needs new technical work, not only clean-up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D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deployed needs local people to install, calibrate and maintain it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D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IoT, telemetry and digital twins transfer into agriculture, water and logistics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D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monitoring industry — instead of imported consultants and hardware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050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bigger than just conservation:</a:t>
            </a:r>
          </a:p>
          <a:p>
            <a:pPr marL="0" indent="0" algn="ctr">
              <a:buNone/>
            </a:pPr>
            <a:r>
              <a:rPr lang="en-US" sz="1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Mpumalanga problem with Mpumalanga hands builds the capability the province needs after coal.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108960"/>
            <a:ext cx="3291840" cy="3291840"/>
          </a:xfrm>
          <a:prstGeom prst="ellipse">
            <a:avLst/>
          </a:prstGeom>
          <a:solidFill>
            <a:srgbClr val="24394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8138160" y="-1005840"/>
            <a:ext cx="2377440" cy="2377440"/>
          </a:xfrm>
          <a:prstGeom prst="ellipse">
            <a:avLst/>
          </a:prstGeom>
          <a:solidFill>
            <a:srgbClr val="13808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 txBox="1"/>
          <p:nvPr/>
        </p:nvSpPr>
        <p:spPr>
          <a:xfrm>
            <a:off x="640080" y="19385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100" dirty="0">
                <a:solidFill>
                  <a:srgbClr val="1B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 ·  Filter   ·  Visualise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17320" y="2606040"/>
            <a:ext cx="6309360" cy="960120"/>
          </a:xfrm>
          <a:prstGeom prst="roundRect">
            <a:avLst>
              <a:gd name="adj" fmla="val 6667"/>
            </a:avLst>
          </a:prstGeom>
          <a:solidFill>
            <a:srgbClr val="1D3140"/>
          </a:solidFill>
          <a:ln w="15240">
            <a:solidFill>
              <a:srgbClr val="E29A1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1600200" y="260604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ask: one instrumented pilot on a Mpumalanga ash dam.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673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FC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where there is currently none.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F5B36C-3F1F-A52F-13CF-08C07691E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99" y="338328"/>
            <a:ext cx="3307081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1493</Words>
  <Application>Microsoft Office PowerPoint</Application>
  <PresentationFormat>On-screen Show (16:9)</PresentationFormat>
  <Paragraphs>169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AshX — Autonomous Ash-Dam Safety Node</dc:title>
  <dc:subject>PptxGenJS Presentation</dc:subject>
  <dc:creator>AshX Team</dc:creator>
  <cp:lastModifiedBy>Nelisa Mathabela</cp:lastModifiedBy>
  <cp:revision>9</cp:revision>
  <dcterms:created xsi:type="dcterms:W3CDTF">2026-09-17T17:39:30Z</dcterms:created>
  <dcterms:modified xsi:type="dcterms:W3CDTF">2026-09-17T21:46:06Z</dcterms:modified>
</cp:coreProperties>
</file>